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4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363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54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10940" y="-571499"/>
            <a:ext cx="2926080" cy="2926080"/>
          </a:xfrm>
          <a:prstGeom prst="ellipse">
            <a:avLst/>
          </a:prstGeom>
          <a:solidFill>
            <a:srgbClr val="3E2A1C"/>
          </a:solidFill>
          <a:ln/>
        </p:spPr>
      </p:sp>
      <p:sp>
        <p:nvSpPr>
          <p:cNvPr id="3" name="Shape 1"/>
          <p:cNvSpPr/>
          <p:nvPr/>
        </p:nvSpPr>
        <p:spPr>
          <a:xfrm>
            <a:off x="7083083" y="3063240"/>
            <a:ext cx="3108960" cy="3108960"/>
          </a:xfrm>
          <a:prstGeom prst="ellipse">
            <a:avLst/>
          </a:prstGeom>
          <a:solidFill>
            <a:srgbClr val="3E2A1C"/>
          </a:solidFill>
          <a:ln/>
        </p:spPr>
      </p:sp>
      <p:pic>
        <p:nvPicPr>
          <p:cNvPr id="4" name="Image 0" descr="assets/land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6858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4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20116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FD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Latin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la langue latine — Classe de cinquième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voyage d'une langue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9C2B1F"/>
          </a:solidFill>
          <a:ln/>
        </p:spPr>
      </p:sp>
      <p:pic>
        <p:nvPicPr>
          <p:cNvPr id="5" name="Image 0" descr="assets/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17830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642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famille des langues indo-européennes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8720" y="19568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vient le latin 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5508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E4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313432"/>
            <a:ext cx="457200" cy="457200"/>
          </a:xfrm>
          <a:prstGeom prst="ellipse">
            <a:avLst/>
          </a:prstGeom>
          <a:solidFill>
            <a:srgbClr val="9C2B1F"/>
          </a:solidFill>
          <a:ln/>
        </p:spPr>
      </p:sp>
      <p:pic>
        <p:nvPicPr>
          <p:cNvPr id="10" name="Image 1" descr="assets/landma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8201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naissance du latin à Rome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88720" y="25786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petit dialecte du Latium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55080" y="23134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E4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48640" y="2935224"/>
            <a:ext cx="457200" cy="457200"/>
          </a:xfrm>
          <a:prstGeom prst="ellipse">
            <a:avLst/>
          </a:prstGeom>
          <a:solidFill>
            <a:srgbClr val="9C2B1F"/>
          </a:solidFill>
          <a:ln/>
        </p:spPr>
      </p:sp>
      <p:pic>
        <p:nvPicPr>
          <p:cNvPr id="15" name="Image 2" descr="assets/roa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302666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9077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L'expansion avec l'Empire romain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188720" y="3200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conquiert l'Europe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355080" y="29352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E4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9C2B1F"/>
          </a:solidFill>
          <a:ln/>
        </p:spPr>
      </p:sp>
      <p:pic>
        <p:nvPicPr>
          <p:cNvPr id="20" name="Image 3" descr="assets/boo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4845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35295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latin, langue savante et vivante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88720" y="3822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l'Antiquité au néo-latin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355080" y="35570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E4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548640" y="4178808"/>
            <a:ext cx="457200" cy="457200"/>
          </a:xfrm>
          <a:prstGeom prst="ellipse">
            <a:avLst/>
          </a:prstGeom>
          <a:solidFill>
            <a:srgbClr val="9C2B1F"/>
          </a:solidFill>
          <a:ln/>
        </p:spPr>
      </p:sp>
      <p:pic>
        <p:nvPicPr>
          <p:cNvPr id="25" name="Image 4" descr="assets/seedlin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" y="427024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41513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naissance des langues vernaculaires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188720" y="44439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donne naissance au français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355080" y="41788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E4D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Shape 22"/>
          <p:cNvSpPr/>
          <p:nvPr/>
        </p:nvSpPr>
        <p:spPr>
          <a:xfrm>
            <a:off x="7360920" y="914400"/>
            <a:ext cx="1417320" cy="3657600"/>
          </a:xfrm>
          <a:prstGeom prst="rect">
            <a:avLst/>
          </a:prstGeom>
          <a:solidFill>
            <a:srgbClr val="F1E4D0"/>
          </a:solidFill>
          <a:ln/>
        </p:spPr>
      </p:sp>
      <p:pic>
        <p:nvPicPr>
          <p:cNvPr id="30" name="Image 5" descr="assets/scro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1234440"/>
            <a:ext cx="685800" cy="6858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06640" y="2103120"/>
            <a:ext cx="1325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753 av. J.-C.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—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0605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grande famille de langues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658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y a environ 5000 ans, des peuples des steppes d'Eurasie parlaient une langue commune : l'indo-européen. En se déplaçant, leurs descendants l'ont fait évoluer en de nombreuses langues différentes.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749040" y="1828800"/>
            <a:ext cx="1645920" cy="640080"/>
          </a:xfrm>
          <a:prstGeom prst="ellipse">
            <a:avLst/>
          </a:prstGeom>
          <a:solidFill>
            <a:srgbClr val="9C2B1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4904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INDO-EUROPÉEN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34440" y="2606040"/>
            <a:ext cx="33375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606040"/>
            <a:ext cx="0" cy="32004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926080"/>
            <a:ext cx="1097280" cy="1536192"/>
          </a:xfrm>
          <a:prstGeom prst="roundRect">
            <a:avLst>
              <a:gd name="adj" fmla="val 6667"/>
            </a:avLst>
          </a:prstGeom>
          <a:solidFill>
            <a:srgbClr val="F1E4D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990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celtiques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irlandais, breton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80360" y="2606040"/>
            <a:ext cx="169164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2606040"/>
            <a:ext cx="0" cy="32004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2926080"/>
            <a:ext cx="1097280" cy="1536192"/>
          </a:xfrm>
          <a:prstGeom prst="roundRect">
            <a:avLst>
              <a:gd name="adj" fmla="val 6667"/>
            </a:avLst>
          </a:prstGeom>
          <a:solidFill>
            <a:srgbClr val="F1E4D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77440" y="2990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germaniques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3520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allemand, anglais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26280" y="2606040"/>
            <a:ext cx="4572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2606040"/>
            <a:ext cx="0" cy="32004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2926080"/>
            <a:ext cx="1097280" cy="1536192"/>
          </a:xfrm>
          <a:prstGeom prst="roundRect">
            <a:avLst>
              <a:gd name="adj" fmla="val 6667"/>
            </a:avLst>
          </a:prstGeom>
          <a:solidFill>
            <a:srgbClr val="9C2B1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23360" y="2990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D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D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italiques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0" y="3520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1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→ langues romanes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606040"/>
            <a:ext cx="16002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2606040"/>
            <a:ext cx="0" cy="32004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926080"/>
            <a:ext cx="1097280" cy="1536192"/>
          </a:xfrm>
          <a:prstGeom prst="roundRect">
            <a:avLst>
              <a:gd name="adj" fmla="val 6667"/>
            </a:avLst>
          </a:prstGeom>
          <a:solidFill>
            <a:srgbClr val="F1E4D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2990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slaves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3520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russe, polonais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0" y="2606040"/>
            <a:ext cx="324612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2606040"/>
            <a:ext cx="0" cy="32004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9480" y="2926080"/>
            <a:ext cx="1097280" cy="1536192"/>
          </a:xfrm>
          <a:prstGeom prst="roundRect">
            <a:avLst>
              <a:gd name="adj" fmla="val 6667"/>
            </a:avLst>
          </a:prstGeom>
          <a:solidFill>
            <a:srgbClr val="F1E4D0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0" y="2990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indo-iraniennes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3520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persan, hindi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5902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français, l'italien, l'espagnol, le portugais et le roumain descendent tous du latin : ce sont des langues « sœurs ».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—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naissance du latin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3200400"/>
          </a:xfrm>
          <a:prstGeom prst="rect">
            <a:avLst/>
          </a:prstGeom>
          <a:solidFill>
            <a:srgbClr val="FDF6E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assets/landmark_br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753 av. J.-C.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 légendaire de Rome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est à l'origine le dialecte d'un tout petit territoire : le </a:t>
            </a:r>
            <a:r>
              <a:rPr lang="en-US" sz="1150" b="1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Latium</a:t>
            </a: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région autour de Rome, en Italie centrale.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cette époque, l'Italie parle une mosaïque de langues : l'étrusque, l'osque, l'ombrien... Le latin n'est qu'une voix parmi d'autres.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92040" y="1463040"/>
            <a:ext cx="3703320" cy="3200400"/>
          </a:xfrm>
          <a:prstGeom prst="rect">
            <a:avLst/>
          </a:prstGeom>
          <a:solidFill>
            <a:srgbClr val="2B1B12"/>
          </a:solidFill>
          <a:ln/>
        </p:spPr>
      </p:sp>
      <p:sp>
        <p:nvSpPr>
          <p:cNvPr id="11" name="Text 8"/>
          <p:cNvSpPr/>
          <p:nvPr/>
        </p:nvSpPr>
        <p:spPr>
          <a:xfrm>
            <a:off x="507492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TOUT PETIT TERRITOIRE...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43650" y="2260482"/>
            <a:ext cx="914400" cy="1188720"/>
          </a:xfrm>
          <a:prstGeom prst="ellipse">
            <a:avLst/>
          </a:prstGeom>
          <a:solidFill>
            <a:srgbClr val="3E2A1C"/>
          </a:solidFill>
          <a:ln/>
        </p:spPr>
      </p:sp>
      <p:sp>
        <p:nvSpPr>
          <p:cNvPr id="13" name="Shape 10"/>
          <p:cNvSpPr/>
          <p:nvPr/>
        </p:nvSpPr>
        <p:spPr>
          <a:xfrm>
            <a:off x="6457950" y="3182112"/>
            <a:ext cx="685800" cy="1097280"/>
          </a:xfrm>
          <a:prstGeom prst="ellipse">
            <a:avLst/>
          </a:prstGeom>
          <a:solidFill>
            <a:srgbClr val="3E2A1C"/>
          </a:solidFill>
          <a:ln/>
        </p:spPr>
      </p:sp>
      <p:sp>
        <p:nvSpPr>
          <p:cNvPr id="14" name="Shape 11"/>
          <p:cNvSpPr/>
          <p:nvPr/>
        </p:nvSpPr>
        <p:spPr>
          <a:xfrm>
            <a:off x="6617970" y="4137660"/>
            <a:ext cx="365760" cy="365760"/>
          </a:xfrm>
          <a:prstGeom prst="ellipse">
            <a:avLst/>
          </a:prstGeom>
          <a:solidFill>
            <a:srgbClr val="9C2B1F"/>
          </a:solidFill>
          <a:ln/>
        </p:spPr>
      </p:sp>
      <p:sp>
        <p:nvSpPr>
          <p:cNvPr id="15" name="Text 12"/>
          <p:cNvSpPr/>
          <p:nvPr/>
        </p:nvSpPr>
        <p:spPr>
          <a:xfrm>
            <a:off x="7094574" y="41376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4C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Latium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0" y="1874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1E4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...devenu, en quelques siècles, la langue d'un empire immense.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—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187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97666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latin suit les légions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12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mesure que Rome conquiert de nouveaux territoires, elle y implante son administration, ses colons, ses soldats — et sa langue.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73152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2825496"/>
            <a:ext cx="201168" cy="201168"/>
          </a:xfrm>
          <a:prstGeom prst="ellipse">
            <a:avLst/>
          </a:prstGeom>
          <a:solidFill>
            <a:srgbClr val="9C2B1F"/>
          </a:solidFill>
          <a:ln w="25400">
            <a:solidFill>
              <a:srgbClr val="FDF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446434"/>
            <a:ext cx="0" cy="388205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pic>
        <p:nvPicPr>
          <p:cNvPr id="8" name="Image 0" descr="assets/r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141732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810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753 av. J.-C.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 de Rome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2642616" y="2825496"/>
            <a:ext cx="201168" cy="201168"/>
          </a:xfrm>
          <a:prstGeom prst="ellipse">
            <a:avLst/>
          </a:prstGeom>
          <a:solidFill>
            <a:srgbClr val="9C2B1F"/>
          </a:solidFill>
          <a:ln w="25400">
            <a:solidFill>
              <a:srgbClr val="FDF6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0" y="3026664"/>
            <a:ext cx="0" cy="502920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pic>
        <p:nvPicPr>
          <p:cNvPr id="13" name="Image 1" descr="asset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354787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97380" y="3858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264-146 av. J.-C.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897380" y="40965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Guerres puniques : Rome domine la Méditerranée occidentale</a:t>
            </a:r>
            <a:endParaRPr lang="en-US" sz="870" dirty="0"/>
          </a:p>
        </p:txBody>
      </p:sp>
      <p:sp>
        <p:nvSpPr>
          <p:cNvPr id="16" name="Shape 12"/>
          <p:cNvSpPr/>
          <p:nvPr/>
        </p:nvSpPr>
        <p:spPr>
          <a:xfrm>
            <a:off x="4471416" y="2825496"/>
            <a:ext cx="201168" cy="201168"/>
          </a:xfrm>
          <a:prstGeom prst="ellipse">
            <a:avLst/>
          </a:prstGeom>
          <a:solidFill>
            <a:srgbClr val="9C2B1F"/>
          </a:solidFill>
          <a:ln w="25400">
            <a:solidFill>
              <a:srgbClr val="FDF6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0" y="2391156"/>
            <a:ext cx="0" cy="443484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pic>
        <p:nvPicPr>
          <p:cNvPr id="18" name="Image 2" descr="assets/ch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141732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26180" y="1810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58-51 av. J.-C.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372618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César conquiert la Gaule</a:t>
            </a:r>
            <a:endParaRPr lang="en-US" sz="870" dirty="0"/>
          </a:p>
        </p:txBody>
      </p:sp>
      <p:sp>
        <p:nvSpPr>
          <p:cNvPr id="21" name="Shape 16"/>
          <p:cNvSpPr/>
          <p:nvPr/>
        </p:nvSpPr>
        <p:spPr>
          <a:xfrm>
            <a:off x="6300216" y="2825496"/>
            <a:ext cx="201168" cy="201168"/>
          </a:xfrm>
          <a:prstGeom prst="ellipse">
            <a:avLst/>
          </a:prstGeom>
          <a:solidFill>
            <a:srgbClr val="9C2B1F"/>
          </a:solidFill>
          <a:ln w="25400">
            <a:solidFill>
              <a:srgbClr val="FDF6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0" y="3026664"/>
            <a:ext cx="0" cy="502920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pic>
        <p:nvPicPr>
          <p:cNvPr id="23" name="Image 3" descr="assets/land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54787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4980" y="3858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av. J.-C.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554980" y="40965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Auguste fonde l'Empire</a:t>
            </a:r>
            <a:endParaRPr lang="en-US" sz="870" dirty="0"/>
          </a:p>
        </p:txBody>
      </p:sp>
      <p:sp>
        <p:nvSpPr>
          <p:cNvPr id="26" name="Shape 20"/>
          <p:cNvSpPr/>
          <p:nvPr/>
        </p:nvSpPr>
        <p:spPr>
          <a:xfrm>
            <a:off x="8129016" y="2825496"/>
            <a:ext cx="201168" cy="201168"/>
          </a:xfrm>
          <a:prstGeom prst="ellipse">
            <a:avLst/>
          </a:prstGeom>
          <a:solidFill>
            <a:srgbClr val="9C2B1F"/>
          </a:solidFill>
          <a:ln w="25400">
            <a:solidFill>
              <a:srgbClr val="FDF6E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229597" y="2450592"/>
            <a:ext cx="2" cy="384048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pic>
        <p:nvPicPr>
          <p:cNvPr id="28" name="Image 4" descr="assets/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2108" y="141732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40880" y="1810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 apr. J.-C.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704088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Apogée : l'Empire s'étend de l'Écosse à l'Irak</a:t>
            </a:r>
            <a:endParaRPr lang="en-US" sz="870" dirty="0"/>
          </a:p>
        </p:txBody>
      </p:sp>
      <p:sp>
        <p:nvSpPr>
          <p:cNvPr id="31" name="Text 24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—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1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4973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langue pour gouverner, servir, apprendre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l'Empire romain, le latin devient bien plus qu'une langue maternelle : c'est l'outil qui unifie un territoire immense et des peuples très divers.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1E4D0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0180" y="2423160"/>
            <a:ext cx="731520" cy="731520"/>
          </a:xfrm>
          <a:prstGeom prst="ellipse">
            <a:avLst/>
          </a:prstGeom>
          <a:solidFill>
            <a:srgbClr val="9C2B1F"/>
          </a:solidFill>
          <a:ln/>
        </p:spPr>
      </p:sp>
      <p:pic>
        <p:nvPicPr>
          <p:cNvPr id="7" name="Image 0" descr="assets/che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772" y="25877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L'armée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36301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légionnaires viennent de tout l'Empire ; le latin est leur langue commune de commandement.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21488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1E4D0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10812" y="2423160"/>
            <a:ext cx="731520" cy="731520"/>
          </a:xfrm>
          <a:prstGeom prst="ellipse">
            <a:avLst/>
          </a:prstGeom>
          <a:solidFill>
            <a:srgbClr val="9C2B1F"/>
          </a:solidFill>
          <a:ln/>
        </p:spPr>
      </p:sp>
      <p:pic>
        <p:nvPicPr>
          <p:cNvPr id="12" name="Image 1" descr="assets/landma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404" y="258775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L'administration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02152" y="36301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Lois, actes officiels, impôts : tout se rédige en latin, de Bretagne jusqu'en Syrie.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21488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1E4D0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81444" y="2423160"/>
            <a:ext cx="731520" cy="731520"/>
          </a:xfrm>
          <a:prstGeom prst="ellipse">
            <a:avLst/>
          </a:prstGeom>
          <a:solidFill>
            <a:srgbClr val="9C2B1F"/>
          </a:solidFill>
          <a:ln/>
        </p:spPr>
      </p:sp>
      <p:pic>
        <p:nvPicPr>
          <p:cNvPr id="17" name="Image 2" descr="assets/boo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36" y="258775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27064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L'école et la culture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72784" y="36301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Grammairiens et rhéteurs enseignent le latin ; les grands auteurs (Cicéron, Virgile) le font rayonner.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—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visages d'une même langue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que l'on étudie en classe n'est pas exactement celui que parlaient tous les Romains dans la rue.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794760" cy="2697480"/>
          </a:xfrm>
          <a:prstGeom prst="rect">
            <a:avLst/>
          </a:prstGeom>
          <a:solidFill>
            <a:srgbClr val="FDF6EC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scro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22199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latin classique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 écrite et soignée : littérature, discours, textes officiels.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Grammaire fixée, respectée par les élites cultivées.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celui de Cicéron, César, Virgile — celui que l'on étudie aujourd'hui.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— INTRODUCTION</a:t>
            </a:r>
            <a:endParaRPr lang="en-US" sz="900" dirty="0"/>
          </a:p>
        </p:txBody>
      </p:sp>
      <p:pic>
        <p:nvPicPr>
          <p:cNvPr id="2050" name="Picture 2" descr="Folio 16 recto">
            <a:extLst>
              <a:ext uri="{FF2B5EF4-FFF2-40B4-BE49-F238E27FC236}">
                <a16:creationId xmlns:a16="http://schemas.microsoft.com/office/drawing/2014/main" id="{8EAE7696-0E8B-420B-B7B4-8D043F14E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724" y="1936563"/>
            <a:ext cx="3016457" cy="2726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290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visages d'une même langue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que l'on étudie en classe n'est pas exactement celui que parlaient tous les Romains dans la rue.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00600" y="1965960"/>
            <a:ext cx="3794760" cy="2697480"/>
          </a:xfrm>
          <a:prstGeom prst="rect">
            <a:avLst/>
          </a:prstGeom>
          <a:solidFill>
            <a:srgbClr val="9C2B1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assets/langu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945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222199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D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latin « vulgaire »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74920" y="28346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1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 parlée au quotidien par le </a:t>
            </a:r>
            <a:r>
              <a:rPr lang="en-US" sz="1100">
                <a:solidFill>
                  <a:srgbClr val="F1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peuple (populus, plebs, vulgus).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1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simple, plus libre : elle évolue vite et varie selon les régions.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1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cette langue vivante qui donnera naissance au français et aux autres langues romanes.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— INTRODUCTION</a:t>
            </a:r>
            <a:endParaRPr lang="en-US" sz="900" dirty="0"/>
          </a:p>
        </p:txBody>
      </p:sp>
      <p:pic>
        <p:nvPicPr>
          <p:cNvPr id="1026" name="Picture 2" descr="Pompéi : un graffiti vieux de 2000 ans mis au jour">
            <a:extLst>
              <a:ext uri="{FF2B5EF4-FFF2-40B4-BE49-F238E27FC236}">
                <a16:creationId xmlns:a16="http://schemas.microsoft.com/office/drawing/2014/main" id="{E8DF1DB0-2FEB-457D-8E06-64D427FB4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51" y="1963182"/>
            <a:ext cx="4046220" cy="2700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476 : Rome tombe, le latin reste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476, l'Empire romain d'Occident s'effondre. Mais le latin, lui, ne disparaît pas : il devient la grande langue commune du Moyen Âge européen.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1E4D0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0180" y="2423160"/>
            <a:ext cx="731520" cy="731520"/>
          </a:xfrm>
          <a:prstGeom prst="ellipse">
            <a:avLst/>
          </a:prstGeom>
          <a:solidFill>
            <a:srgbClr val="9C2B1F"/>
          </a:solidFill>
          <a:ln/>
        </p:spPr>
      </p:sp>
      <p:pic>
        <p:nvPicPr>
          <p:cNvPr id="7" name="Image 0" descr="assets/cro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772" y="25877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L'Église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36301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devient la langue de la liturgie, de la Bible (la Vulgate) et de tout le clergé occidental.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21488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1E4D0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10812" y="2423160"/>
            <a:ext cx="731520" cy="731520"/>
          </a:xfrm>
          <a:prstGeom prst="ellipse">
            <a:avLst/>
          </a:prstGeom>
          <a:solidFill>
            <a:srgbClr val="9C2B1F"/>
          </a:solidFill>
          <a:ln/>
        </p:spPr>
      </p:sp>
      <p:pic>
        <p:nvPicPr>
          <p:cNvPr id="12" name="Image 1" descr="assets/scrollunfurle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404" y="258775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monastères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02152" y="36301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Moines et copistes </a:t>
            </a:r>
            <a:r>
              <a:rPr lang="en-US" sz="100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recopient les </a:t>
            </a: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 anciens, qu'ils sauvent ainsi de l'oubli.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21488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1E4D0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81444" y="2423160"/>
            <a:ext cx="731520" cy="731520"/>
          </a:xfrm>
          <a:prstGeom prst="ellipse">
            <a:avLst/>
          </a:prstGeom>
          <a:solidFill>
            <a:srgbClr val="9C2B1F"/>
          </a:solidFill>
          <a:ln/>
        </p:spPr>
      </p:sp>
      <p:pic>
        <p:nvPicPr>
          <p:cNvPr id="17" name="Image 2" descr="assets/universit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36" y="258775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27064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savoir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272784" y="363016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reste la langue des lettrés, des écoles, puis des toutes premières universités.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—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C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néo-latin : une langue toujours savante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après l'Antiquité, le latin reste la langue internationale des savants, des diplomates et de l'Église — pendant plus de mille ans.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asset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22494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1305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E4C7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16e - 18e siècles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154680" y="2103120"/>
            <a:ext cx="5532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savants écrivent en latin : Copernic, Newton (</a:t>
            </a:r>
            <a:r>
              <a:rPr lang="en-US" sz="1050" i="1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Principia Mathematica</a:t>
            </a:r>
            <a:r>
              <a:rPr lang="en-US" sz="1050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1687) ou Descartes le publient en latin pour être lus dans toute l'Europe.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0" name="Image 1" descr="assets/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307238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9535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E4C7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Jusqu’au 19e </a:t>
            </a:r>
            <a:r>
              <a:rPr lang="en-US" sz="1250" b="1" dirty="0">
                <a:solidFill>
                  <a:srgbClr val="E4C7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siècle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154680" y="2926080"/>
            <a:ext cx="5532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reste la langue des universités et des thèses savantes dans de nombreux pays.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2" descr="assets/land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389534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7764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E4C7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Aujourd'hui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154680" y="3749040"/>
            <a:ext cx="5532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Vatican l'utilise pour ses textes officiels, et les scientifiques nomment les espèces vivantes en latin (</a:t>
            </a:r>
            <a:r>
              <a:rPr lang="en-US" sz="1050" i="1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 sapiens</a:t>
            </a:r>
            <a:r>
              <a:rPr lang="en-US" sz="1050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i="1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Panthera leo</a:t>
            </a:r>
            <a:r>
              <a:rPr lang="en-US" sz="1050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—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0641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7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Pendant ce temps, le latin parlé change de visage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Coupé de Rome, isolé région par région, le latin vulgaire évolue différemment partout : il se mélange aux langues locales et devient peu à peu une multitude de nouvelles langues, les </a:t>
            </a:r>
            <a:r>
              <a:rPr lang="en-US" sz="1250" b="1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 romanes</a:t>
            </a: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2377440"/>
          </a:xfrm>
          <a:prstGeom prst="rect">
            <a:avLst/>
          </a:prstGeom>
          <a:solidFill>
            <a:srgbClr val="F1E4D0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assets/fea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359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C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Serments de Strasbourg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texte officiel écrit non plus en latin, mais dans une langue romane ancienne : on considère souvent que c'est l'acte de naissance du français.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flipH="1" flipV="1">
            <a:off x="5434713" y="2834079"/>
            <a:ext cx="1369321" cy="574325"/>
          </a:xfrm>
          <a:prstGeom prst="line">
            <a:avLst/>
          </a:prstGeom>
          <a:noFill/>
          <a:ln w="15875">
            <a:solidFill>
              <a:srgbClr val="C9A2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1795" y="2632913"/>
            <a:ext cx="1005840" cy="402336"/>
          </a:xfrm>
          <a:prstGeom prst="ellipse">
            <a:avLst/>
          </a:prstGeom>
          <a:solidFill>
            <a:srgbClr val="F1E4D0"/>
          </a:solidFill>
          <a:ln/>
        </p:spPr>
      </p:sp>
      <p:sp>
        <p:nvSpPr>
          <p:cNvPr id="14" name="Text 11"/>
          <p:cNvSpPr/>
          <p:nvPr/>
        </p:nvSpPr>
        <p:spPr>
          <a:xfrm>
            <a:off x="4931795" y="2632913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 flipH="1" flipV="1">
            <a:off x="5953616" y="2259268"/>
            <a:ext cx="864809" cy="1171316"/>
          </a:xfrm>
          <a:prstGeom prst="line">
            <a:avLst/>
          </a:prstGeom>
          <a:noFill/>
          <a:ln w="15875">
            <a:solidFill>
              <a:srgbClr val="C9A2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50699" y="2058102"/>
            <a:ext cx="1005840" cy="402336"/>
          </a:xfrm>
          <a:prstGeom prst="ellipse">
            <a:avLst/>
          </a:prstGeom>
          <a:solidFill>
            <a:srgbClr val="F1E4D0"/>
          </a:solidFill>
          <a:ln/>
        </p:spPr>
      </p:sp>
      <p:sp>
        <p:nvSpPr>
          <p:cNvPr id="17" name="Text 14"/>
          <p:cNvSpPr/>
          <p:nvPr/>
        </p:nvSpPr>
        <p:spPr>
          <a:xfrm>
            <a:off x="5450699" y="205810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Italien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 flipH="1" flipV="1">
            <a:off x="6819582" y="2137430"/>
            <a:ext cx="7987" cy="1309857"/>
          </a:xfrm>
          <a:prstGeom prst="line">
            <a:avLst/>
          </a:prstGeom>
          <a:noFill/>
          <a:ln w="15875">
            <a:solidFill>
              <a:srgbClr val="C9A2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86020" y="1855770"/>
            <a:ext cx="1005840" cy="402336"/>
          </a:xfrm>
          <a:prstGeom prst="ellipse">
            <a:avLst/>
          </a:prstGeom>
          <a:solidFill>
            <a:srgbClr val="F1E4D0"/>
          </a:solidFill>
          <a:ln/>
        </p:spPr>
      </p:sp>
      <p:sp>
        <p:nvSpPr>
          <p:cNvPr id="20" name="Text 17"/>
          <p:cNvSpPr/>
          <p:nvPr/>
        </p:nvSpPr>
        <p:spPr>
          <a:xfrm>
            <a:off x="6386020" y="184023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Espagnol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 flipV="1">
            <a:off x="6804034" y="2530922"/>
            <a:ext cx="791451" cy="899662"/>
          </a:xfrm>
          <a:prstGeom prst="line">
            <a:avLst/>
          </a:prstGeom>
          <a:noFill/>
          <a:ln w="15875">
            <a:solidFill>
              <a:srgbClr val="C9A2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37327" y="2188905"/>
            <a:ext cx="1005840" cy="402336"/>
          </a:xfrm>
          <a:prstGeom prst="ellipse">
            <a:avLst/>
          </a:prstGeom>
          <a:solidFill>
            <a:srgbClr val="F1E4D0"/>
          </a:solidFill>
          <a:ln/>
        </p:spPr>
      </p:sp>
      <p:sp>
        <p:nvSpPr>
          <p:cNvPr id="23" name="Text 20"/>
          <p:cNvSpPr/>
          <p:nvPr/>
        </p:nvSpPr>
        <p:spPr>
          <a:xfrm>
            <a:off x="7322500" y="2188905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Portugais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 flipV="1">
            <a:off x="6833973" y="2962675"/>
            <a:ext cx="1039264" cy="441219"/>
          </a:xfrm>
          <a:prstGeom prst="line">
            <a:avLst/>
          </a:prstGeom>
          <a:noFill/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7595485" y="2632913"/>
            <a:ext cx="1005840" cy="402336"/>
          </a:xfrm>
          <a:prstGeom prst="ellipse">
            <a:avLst/>
          </a:prstGeom>
          <a:solidFill>
            <a:srgbClr val="F1E4D0"/>
          </a:solidFill>
          <a:ln/>
        </p:spPr>
      </p:sp>
      <p:sp>
        <p:nvSpPr>
          <p:cNvPr id="26" name="Text 23"/>
          <p:cNvSpPr/>
          <p:nvPr/>
        </p:nvSpPr>
        <p:spPr>
          <a:xfrm>
            <a:off x="7595485" y="2632913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Roumain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— INTRODUCTION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316660" y="3379711"/>
            <a:ext cx="1005840" cy="731520"/>
          </a:xfrm>
          <a:prstGeom prst="ellipse">
            <a:avLst/>
          </a:prstGeom>
          <a:solidFill>
            <a:srgbClr val="9C2B1F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8310" y="337755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D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4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mot latin</a:t>
            </a:r>
            <a:r>
              <a:rPr lang="en-US" sz="3000" b="1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des </a:t>
            </a:r>
            <a:r>
              <a:rPr lang="en-US" sz="3000" b="1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descendants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comme un même mot latin a évolué différemment selon les pays — tout en restant reconnaissable !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203471"/>
              </p:ext>
            </p:extLst>
          </p:nvPr>
        </p:nvGraphicFramePr>
        <p:xfrm>
          <a:off x="548640" y="1965960"/>
          <a:ext cx="8046720" cy="25146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DF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DF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DF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DF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DF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PORTUGAIS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DF6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2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>
                          <a:solidFill>
                            <a:srgbClr val="9C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/>
                        <a:t>roză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>
                          <a:solidFill>
                            <a:srgbClr val="9C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/>
                        <a:t>cultură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>
                          <a:solidFill>
                            <a:srgbClr val="9C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naturaleza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/>
                        <a:t>natură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>
                          <a:solidFill>
                            <a:srgbClr val="9C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/>
                        <a:t>poartă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>
                          <a:solidFill>
                            <a:srgbClr val="9C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français, plus de 80 % du vocabulaire vient directement ou indirectement du latin.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— INTRODUCTION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20467" y="2917036"/>
            <a:ext cx="2743200" cy="2743200"/>
          </a:xfrm>
          <a:prstGeom prst="ellipse">
            <a:avLst/>
          </a:prstGeom>
          <a:solidFill>
            <a:srgbClr val="3E2A1C"/>
          </a:solidFill>
          <a:ln/>
        </p:spPr>
      </p:sp>
      <p:sp>
        <p:nvSpPr>
          <p:cNvPr id="3" name="Shape 1"/>
          <p:cNvSpPr/>
          <p:nvPr/>
        </p:nvSpPr>
        <p:spPr>
          <a:xfrm>
            <a:off x="7166484" y="-466444"/>
            <a:ext cx="2560320" cy="2560320"/>
          </a:xfrm>
          <a:prstGeom prst="ellipse">
            <a:avLst/>
          </a:prstGeom>
          <a:solidFill>
            <a:srgbClr val="3E2A1C"/>
          </a:solidFill>
          <a:ln/>
        </p:spPr>
      </p:sp>
      <p:pic>
        <p:nvPicPr>
          <p:cNvPr id="4" name="Image 0" descr="asset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5943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600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langue morte 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2057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D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tout à fait !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097280" y="30632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latin vit encore dans chaque mot français que nous prononçons, dans les sciences, le droit, la médecine — et dans toutes les langues romanes parlées aujourd'hui par plus de 900 millions de personnes.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0" y="4023360"/>
            <a:ext cx="18288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4C7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Non scholae, sed vitae discimus. »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45537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4D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n'apprenons pas pour l'école, mais pour la vie.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1098</Words>
  <Application>Microsoft Office PowerPoint</Application>
  <PresentationFormat>Affichage à l'écran (16:9)</PresentationFormat>
  <Paragraphs>198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Latin : une langue qui a traversé les siècles</dc:title>
  <dc:subject>PptxGenJS Presentation</dc:subject>
  <dc:creator>Cours de Latin</dc:creator>
  <cp:lastModifiedBy>Sarah</cp:lastModifiedBy>
  <cp:revision>5</cp:revision>
  <dcterms:created xsi:type="dcterms:W3CDTF">2026-07-02T06:38:48Z</dcterms:created>
  <dcterms:modified xsi:type="dcterms:W3CDTF">2026-07-02T07:47:06Z</dcterms:modified>
</cp:coreProperties>
</file>